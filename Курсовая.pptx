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66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0418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463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984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325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054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198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980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628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386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991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3840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CEB575-3B09-41D7-86BF-C02241EBD2DF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C5EAD-D3A0-4803-B6F7-126FB49EE3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4278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61625" y="232783"/>
            <a:ext cx="9144000" cy="942609"/>
          </a:xfrm>
        </p:spPr>
        <p:txBody>
          <a:bodyPr>
            <a:normAutofit fontScale="90000"/>
          </a:bodyPr>
          <a:lstStyle/>
          <a:p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Кировское областное государственное профессиональное образовательное бюджетное учреждение</a:t>
            </a:r>
            <a:b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«Слободской колледж педагогики и социальных отношений»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194430" y="3883390"/>
            <a:ext cx="3997569" cy="2974609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Останин Глеб Сергеевич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22П-1</a:t>
            </a:r>
          </a:p>
          <a:p>
            <a:pPr algn="l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Специальность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09.02.07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Информационные системы и программирование</a:t>
            </a:r>
          </a:p>
          <a:p>
            <a:pPr algn="l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Калинин Арсений Олегович</a:t>
            </a:r>
          </a:p>
          <a:p>
            <a:endParaRPr lang="ru-RU" dirty="0"/>
          </a:p>
        </p:txBody>
      </p:sp>
      <p:pic>
        <p:nvPicPr>
          <p:cNvPr id="4" name="Picture 14" descr="touch-icon-ipad-retin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503" y="23569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524000" y="2330433"/>
            <a:ext cx="9144000" cy="94260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4284785" y="5370694"/>
            <a:ext cx="3622430" cy="9426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488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766763"/>
            <a:ext cx="10515600" cy="923925"/>
          </a:xfrm>
        </p:spPr>
        <p:txBody>
          <a:bodyPr>
            <a:normAutofit/>
          </a:bodyPr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Цели и задачи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– разработка программного обеспечения для повышения эффективности работы автотранспортных предприятий, путем разработки системы бронирования и продажи билетов.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Описать предметную область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техническое задание на создание программного продукта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Описать архитектуру программы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Описать алгоритмы и функционирование программы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и опытную эксплуатацию</a:t>
            </a:r>
          </a:p>
          <a:p>
            <a:pPr>
              <a:buFontTx/>
              <a:buChar char="•"/>
            </a:pPr>
            <a:r>
              <a:rPr lang="ru-RU" alt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руководство оператора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</p:spTree>
    <p:extLst>
      <p:ext uri="{BB962C8B-B14F-4D97-AF65-F5344CB8AC3E}">
        <p14:creationId xmlns:p14="http://schemas.microsoft.com/office/powerpoint/2010/main" val="465723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962526"/>
            <a:ext cx="10515600" cy="728162"/>
          </a:xfrm>
        </p:spPr>
        <p:txBody>
          <a:bodyPr>
            <a:normAutofit/>
          </a:bodyPr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Анализ предметной области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48943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бронирования и продажи билетов – это программный комплекс для автоматизации процессов оформления, редактирования и учёта билетов на пассажирские перевозки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0" y="1558803"/>
            <a:ext cx="2819400" cy="519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989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5DF1FE-B802-4124-9CFF-23963CE7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925"/>
            <a:ext cx="10515600" cy="815927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</a:rPr>
              <a:t>Сравнение с аналогами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982BFE-F660-484D-B9CF-821D1EAD1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sz="26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«Транспорт: Касса» (компания «ГК БИЛЕТ»):</a:t>
            </a:r>
            <a:endParaRPr lang="ru-RU" sz="26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Узкоспециализированный продукт только для кассиров.</a:t>
            </a: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Простой интерфейс, быстрый старт за счёт предустановок.</a:t>
            </a: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Интеграция с онлайн-сервисами бронирования.</a:t>
            </a: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 ограниченная адаптация, зависимость от провайдера, привязка к облачным сервисам.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6868-F13A-43EB-8E4E-1465017A2FF4}"/>
              </a:ext>
            </a:extLst>
          </p:cNvPr>
          <p:cNvSpPr txBox="1"/>
          <p:nvPr/>
        </p:nvSpPr>
        <p:spPr>
          <a:xfrm>
            <a:off x="2061943" y="116870"/>
            <a:ext cx="826095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A1DA1928-BE55-420F-9AC0-7C9CFD1AA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2422" y="2137410"/>
            <a:ext cx="5905500" cy="331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5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5DF1FE-B802-4124-9CFF-23963CE7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925"/>
            <a:ext cx="10515600" cy="815927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</a:rPr>
              <a:t>Сравнение с аналогами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982BFE-F660-484D-B9CF-821D1EAD1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sz="26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Комплексные системы на базе 1С («1С: Автовокзал»):</a:t>
            </a:r>
            <a:endParaRPr lang="ru-RU" sz="26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Полный цикл автоматизации: от продажи билетов до бухгалтерии.</a:t>
            </a: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глубокой кастомизации.</a:t>
            </a:r>
          </a:p>
          <a:p>
            <a:pPr marL="742950" lvl="1" indent="-285750" algn="just">
              <a:buFont typeface="+mj-lt"/>
              <a:buAutoNum type="arabicPeriod"/>
            </a:pPr>
            <a:r>
              <a:rPr lang="ru-RU" sz="26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 высокая стоимость, сложность внедрения, перегруженный интерфейс, требующий обучения.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6868-F13A-43EB-8E4E-1465017A2FF4}"/>
              </a:ext>
            </a:extLst>
          </p:cNvPr>
          <p:cNvSpPr txBox="1"/>
          <p:nvPr/>
        </p:nvSpPr>
        <p:spPr>
          <a:xfrm>
            <a:off x="1218614" y="141754"/>
            <a:ext cx="975477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FE6910E8-2182-453B-A30E-C1FF00C09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795" y="2413709"/>
            <a:ext cx="4322005" cy="3241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9835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766763"/>
            <a:ext cx="10515600" cy="923925"/>
          </a:xfrm>
        </p:spPr>
        <p:txBody>
          <a:bodyPr/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Средства разработки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Tx/>
              <a:buNone/>
            </a:pPr>
            <a:r>
              <a:rPr lang="ru-RU" altLang="ru-RU" sz="2600" dirty="0">
                <a:latin typeface="Times New Roman" panose="02020603050405020304" pitchFamily="18" charset="0"/>
              </a:rPr>
              <a:t>1. Среда разработки </a:t>
            </a:r>
            <a:r>
              <a:rPr lang="en-US" altLang="ru-RU" sz="2600" dirty="0">
                <a:latin typeface="Times New Roman" panose="02020603050405020304" pitchFamily="18" charset="0"/>
              </a:rPr>
              <a:t>Android Studio.</a:t>
            </a:r>
            <a:endParaRPr lang="ru-RU" altLang="ru-RU" sz="2600" dirty="0">
              <a:latin typeface="Times New Roman" panose="02020603050405020304" pitchFamily="18" charset="0"/>
            </a:endParaRPr>
          </a:p>
          <a:p>
            <a:pPr algn="just">
              <a:buFontTx/>
              <a:buNone/>
            </a:pPr>
            <a:r>
              <a:rPr lang="ru-RU" altLang="ru-RU" sz="2600" dirty="0">
                <a:latin typeface="Times New Roman" panose="02020603050405020304" pitchFamily="18" charset="0"/>
              </a:rPr>
              <a:t>2. Языка программирования </a:t>
            </a:r>
            <a:r>
              <a:rPr lang="en-US" altLang="ru-RU" sz="2600" dirty="0" err="1">
                <a:latin typeface="Times New Roman" panose="02020603050405020304" pitchFamily="18" charset="0"/>
              </a:rPr>
              <a:t>Kotlin</a:t>
            </a:r>
            <a:r>
              <a:rPr lang="ru-RU" altLang="ru-RU" sz="2600" dirty="0">
                <a:latin typeface="Times New Roman" panose="02020603050405020304" pitchFamily="18" charset="0"/>
              </a:rPr>
              <a:t>.</a:t>
            </a:r>
          </a:p>
          <a:p>
            <a:pPr algn="just">
              <a:buFontTx/>
              <a:buNone/>
            </a:pPr>
            <a:r>
              <a:rPr lang="ru-RU" altLang="ru-RU" sz="2600" dirty="0">
                <a:latin typeface="Times New Roman" panose="02020603050405020304" pitchFamily="18" charset="0"/>
              </a:rPr>
              <a:t>3. Платформа </a:t>
            </a:r>
            <a:r>
              <a:rPr lang="en-US" altLang="ru-RU" sz="2600" dirty="0">
                <a:latin typeface="Times New Roman" panose="02020603050405020304" pitchFamily="18" charset="0"/>
              </a:rPr>
              <a:t>Android (API 36.1)</a:t>
            </a:r>
            <a:endParaRPr lang="ru-RU" altLang="ru-RU" sz="2600" dirty="0">
              <a:latin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85E7677-5103-4401-A82D-220051578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685" y="4001294"/>
            <a:ext cx="2494671" cy="249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CFA2E9CE-ED46-4342-A1FD-A1751DE47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9841" y="4027171"/>
            <a:ext cx="5025685" cy="249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FD4DA37F-1399-43D4-A92E-57E6F7A343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5925" y="3263900"/>
            <a:ext cx="272415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8461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4008437" y="1428933"/>
            <a:ext cx="4175125" cy="108108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Основные функции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69583" y="3644595"/>
            <a:ext cx="2401155" cy="11208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Авторизация</a:t>
            </a:r>
            <a:r>
              <a:rPr lang="en-US" sz="2800" dirty="0"/>
              <a:t>/</a:t>
            </a:r>
            <a:r>
              <a:rPr lang="ru-RU" sz="2800" dirty="0"/>
              <a:t>Регистрация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835340" y="3644595"/>
            <a:ext cx="2521317" cy="11208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Бронирование билетов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801100" y="3644595"/>
            <a:ext cx="2521317" cy="11208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Продажа билетов</a:t>
            </a: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922903" y="5045502"/>
            <a:ext cx="2521317" cy="11208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Просмотр рейсов</a:t>
            </a: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2747781" y="5045502"/>
            <a:ext cx="2521317" cy="112083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ru-RU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2800" dirty="0"/>
              <a:t>Формирование отчетов</a:t>
            </a: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B6EAEB00-590B-457E-8708-A763968849D7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095998" y="2510020"/>
            <a:ext cx="2" cy="3879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0144C2F4-1758-4AA3-A5BC-D635AAD462B1}"/>
              </a:ext>
            </a:extLst>
          </p:cNvPr>
          <p:cNvCxnSpPr/>
          <p:nvPr/>
        </p:nvCxnSpPr>
        <p:spPr>
          <a:xfrm>
            <a:off x="2070160" y="2897945"/>
            <a:ext cx="799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8EB033E0-C39D-4617-9DE1-FC2F46068D45}"/>
              </a:ext>
            </a:extLst>
          </p:cNvPr>
          <p:cNvCxnSpPr>
            <a:endCxn id="8" idx="0"/>
          </p:cNvCxnSpPr>
          <p:nvPr/>
        </p:nvCxnSpPr>
        <p:spPr>
          <a:xfrm>
            <a:off x="10061758" y="2897945"/>
            <a:ext cx="1" cy="746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34ACAFB4-7CE8-44B3-8D74-747C34924E30}"/>
              </a:ext>
            </a:extLst>
          </p:cNvPr>
          <p:cNvCxnSpPr>
            <a:endCxn id="6" idx="0"/>
          </p:cNvCxnSpPr>
          <p:nvPr/>
        </p:nvCxnSpPr>
        <p:spPr>
          <a:xfrm>
            <a:off x="2070160" y="2897945"/>
            <a:ext cx="1" cy="746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F7B35D30-C5BE-4F66-8843-3E806264E236}"/>
              </a:ext>
            </a:extLst>
          </p:cNvPr>
          <p:cNvCxnSpPr>
            <a:endCxn id="10" idx="0"/>
          </p:cNvCxnSpPr>
          <p:nvPr/>
        </p:nvCxnSpPr>
        <p:spPr>
          <a:xfrm>
            <a:off x="4008437" y="2897945"/>
            <a:ext cx="3" cy="214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B8276D75-9F71-4B24-8122-461338CE079C}"/>
              </a:ext>
            </a:extLst>
          </p:cNvPr>
          <p:cNvCxnSpPr>
            <a:endCxn id="9" idx="0"/>
          </p:cNvCxnSpPr>
          <p:nvPr/>
        </p:nvCxnSpPr>
        <p:spPr>
          <a:xfrm>
            <a:off x="8183561" y="2897945"/>
            <a:ext cx="1" cy="214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1B42F099-65F1-48E7-9FC3-BF78C5918499}"/>
              </a:ext>
            </a:extLst>
          </p:cNvPr>
          <p:cNvCxnSpPr>
            <a:endCxn id="7" idx="0"/>
          </p:cNvCxnSpPr>
          <p:nvPr/>
        </p:nvCxnSpPr>
        <p:spPr>
          <a:xfrm>
            <a:off x="6095998" y="2897945"/>
            <a:ext cx="1" cy="746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621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985232"/>
            <a:ext cx="10515600" cy="1325563"/>
          </a:xfrm>
        </p:spPr>
        <p:txBody>
          <a:bodyPr/>
          <a:lstStyle/>
          <a:p>
            <a:pPr algn="ctr"/>
            <a:r>
              <a:rPr lang="ru-RU" altLang="ru-RU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</a:rPr>
              <a:t>Демонстрация программы</a:t>
            </a:r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</p:spTree>
    <p:extLst>
      <p:ext uri="{BB962C8B-B14F-4D97-AF65-F5344CB8AC3E}">
        <p14:creationId xmlns:p14="http://schemas.microsoft.com/office/powerpoint/2010/main" val="3020114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766763"/>
            <a:ext cx="10515600" cy="923925"/>
          </a:xfrm>
        </p:spPr>
        <p:txBody>
          <a:bodyPr/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Основное окно</a:t>
            </a:r>
            <a:r>
              <a:rPr lang="en-US" altLang="ru-RU" b="1" dirty="0">
                <a:latin typeface="Times New Roman" panose="02020603050405020304" pitchFamily="18" charset="0"/>
              </a:rPr>
              <a:t> (</a:t>
            </a:r>
            <a:r>
              <a:rPr lang="ru-RU" altLang="ru-RU" b="1" dirty="0">
                <a:latin typeface="Times New Roman" panose="02020603050405020304" pitchFamily="18" charset="0"/>
              </a:rPr>
              <a:t>Администратора</a:t>
            </a:r>
            <a:r>
              <a:rPr lang="en-US" altLang="ru-RU" b="1" dirty="0">
                <a:latin typeface="Times New Roman" panose="02020603050405020304" pitchFamily="18" charset="0"/>
              </a:rPr>
              <a:t>)</a:t>
            </a:r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124" y="1690688"/>
            <a:ext cx="3807068" cy="50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75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766763"/>
            <a:ext cx="10515600" cy="923925"/>
          </a:xfrm>
        </p:spPr>
        <p:txBody>
          <a:bodyPr>
            <a:normAutofit/>
          </a:bodyPr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Проблемы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50721"/>
          </a:xfrm>
        </p:spPr>
        <p:txBody>
          <a:bodyPr>
            <a:normAutofit/>
          </a:bodyPr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Синхронизация данных между устройствами в офлайн – режиме</a:t>
            </a:r>
          </a:p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Обеспечение совместимости с разными версиями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endParaRPr lang="ru-RU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и восстановление данных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5" name="Picture 2" descr="Error with letter - векторные изображения, Error with letter картинки |  Depositphoto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0761" y="4411582"/>
            <a:ext cx="3262451" cy="2286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71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766763"/>
            <a:ext cx="10515600" cy="923925"/>
          </a:xfrm>
        </p:spPr>
        <p:txBody>
          <a:bodyPr/>
          <a:lstStyle/>
          <a:p>
            <a:pPr algn="ctr"/>
            <a:r>
              <a:rPr lang="ru-RU" altLang="ru-RU" b="1" dirty="0">
                <a:latin typeface="Times New Roman" panose="02020603050405020304" pitchFamily="18" charset="0"/>
              </a:rPr>
              <a:t>Перспективы 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85790"/>
          </a:xfrm>
        </p:spPr>
        <p:txBody>
          <a:bodyPr/>
          <a:lstStyle/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больше рейсов</a:t>
            </a:r>
          </a:p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для чеков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QR-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</a:t>
            </a:r>
          </a:p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бронирование на несколько дней вперед</a:t>
            </a:r>
          </a:p>
          <a:p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524000" y="0"/>
            <a:ext cx="9144000" cy="766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бронирования и продажи билетов на автобус</a:t>
            </a:r>
          </a:p>
        </p:txBody>
      </p:sp>
      <p:pic>
        <p:nvPicPr>
          <p:cNvPr id="5" name="Picture 4" descr="Перспективы развития п.Воля | Администрация Воленского сельского поселения  Новоусманского муниципального района Воронежской области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4556" y="3853748"/>
            <a:ext cx="3408719" cy="256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80925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394</Words>
  <Application>Microsoft Office PowerPoint</Application>
  <PresentationFormat>Широкоэкранный</PresentationFormat>
  <Paragraphs>60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Тема Office</vt:lpstr>
      <vt:lpstr>Кировское областное государственное профессиональное образовательное бюджетное учреждение «Слободской колледж педагогики и социальных отношений»</vt:lpstr>
      <vt:lpstr>Цели и задачи</vt:lpstr>
      <vt:lpstr>Анализ предметной области</vt:lpstr>
      <vt:lpstr>Сравнение с аналогами</vt:lpstr>
      <vt:lpstr>Сравнение с аналогами</vt:lpstr>
      <vt:lpstr>Средства разработки</vt:lpstr>
      <vt:lpstr>Презентация PowerPoint</vt:lpstr>
      <vt:lpstr>Демонстрация программы</vt:lpstr>
      <vt:lpstr>Основное окно (Администратора)</vt:lpstr>
      <vt:lpstr>Проблемы</vt:lpstr>
      <vt:lpstr>Перспективы развития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Кировское областное государственное профессиональное образовательное бюджетное учреждение «Слободской колледж педагогики и социальных отношений»</dc:title>
  <dc:creator>User</dc:creator>
  <cp:lastModifiedBy>PC33-10</cp:lastModifiedBy>
  <cp:revision>8</cp:revision>
  <dcterms:created xsi:type="dcterms:W3CDTF">2025-12-12T03:30:48Z</dcterms:created>
  <dcterms:modified xsi:type="dcterms:W3CDTF">2025-12-19T09:32:18Z</dcterms:modified>
</cp:coreProperties>
</file>