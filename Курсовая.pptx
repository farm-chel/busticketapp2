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65" r:id="rId5"/>
    <p:sldId id="266" r:id="rId6"/>
    <p:sldId id="259" r:id="rId7"/>
    <p:sldId id="260" r:id="rId8"/>
    <p:sldId id="261" r:id="rId9"/>
    <p:sldId id="262" r:id="rId10"/>
    <p:sldId id="263" r:id="rId11"/>
    <p:sldId id="264" r:id="rId12"/>
  </p:sldIdLst>
  <p:sldSz cx="12192000" cy="6858000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68" d="100"/>
          <a:sy n="68" d="100"/>
        </p:scale>
        <p:origin x="792" y="6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/>
              <a:t>Образец подзаголовка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CEB575-3B09-41D7-86BF-C02241EBD2DF}" type="datetimeFigureOut">
              <a:rPr lang="ru-RU" smtClean="0"/>
              <a:t>19.12.2025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DC5EAD-D3A0-4803-B6F7-126FB49EE360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81041856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CEB575-3B09-41D7-86BF-C02241EBD2DF}" type="datetimeFigureOut">
              <a:rPr lang="ru-RU" smtClean="0"/>
              <a:t>19.12.2025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DC5EAD-D3A0-4803-B6F7-126FB49EE360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93846351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CEB575-3B09-41D7-86BF-C02241EBD2DF}" type="datetimeFigureOut">
              <a:rPr lang="ru-RU" smtClean="0"/>
              <a:t>19.12.2025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DC5EAD-D3A0-4803-B6F7-126FB49EE360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95598400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Объект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CEB575-3B09-41D7-86BF-C02241EBD2DF}" type="datetimeFigureOut">
              <a:rPr lang="ru-RU" smtClean="0"/>
              <a:t>19.12.2025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DC5EAD-D3A0-4803-B6F7-126FB49EE360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63932524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Объект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Текст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Объект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7" name="Дата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CEB575-3B09-41D7-86BF-C02241EBD2DF}" type="datetimeFigureOut">
              <a:rPr lang="ru-RU" smtClean="0"/>
              <a:t>19.12.2025</a:t>
            </a:fld>
            <a:endParaRPr lang="ru-RU"/>
          </a:p>
        </p:txBody>
      </p:sp>
      <p:sp>
        <p:nvSpPr>
          <p:cNvPr id="8" name="Нижний колонтитул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Номер слайда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DC5EAD-D3A0-4803-B6F7-126FB49EE360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43305432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Дата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CEB575-3B09-41D7-86BF-C02241EBD2DF}" type="datetimeFigureOut">
              <a:rPr lang="ru-RU" smtClean="0"/>
              <a:t>19.12.2025</a:t>
            </a:fld>
            <a:endParaRPr lang="ru-RU"/>
          </a:p>
        </p:txBody>
      </p:sp>
      <p:sp>
        <p:nvSpPr>
          <p:cNvPr id="4" name="Нижний колонтитул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Номер слайда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DC5EAD-D3A0-4803-B6F7-126FB49EE360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70719855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CEB575-3B09-41D7-86BF-C02241EBD2DF}" type="datetimeFigureOut">
              <a:rPr lang="ru-RU" smtClean="0"/>
              <a:t>19.12.2025</a:t>
            </a:fld>
            <a:endParaRPr lang="ru-RU"/>
          </a:p>
        </p:txBody>
      </p:sp>
      <p:sp>
        <p:nvSpPr>
          <p:cNvPr id="3" name="Нижний колонтитул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DC5EAD-D3A0-4803-B6F7-126FB49EE360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65898066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CEB575-3B09-41D7-86BF-C02241EBD2DF}" type="datetimeFigureOut">
              <a:rPr lang="ru-RU" smtClean="0"/>
              <a:t>19.12.2025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DC5EAD-D3A0-4803-B6F7-126FB49EE360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94562838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Рисунок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RU"/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CEB575-3B09-41D7-86BF-C02241EBD2DF}" type="datetimeFigureOut">
              <a:rPr lang="ru-RU" smtClean="0"/>
              <a:t>19.12.2025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DC5EAD-D3A0-4803-B6F7-126FB49EE360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56386527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CEB575-3B09-41D7-86BF-C02241EBD2DF}" type="datetimeFigureOut">
              <a:rPr lang="ru-RU" smtClean="0"/>
              <a:t>19.12.2025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DC5EAD-D3A0-4803-B6F7-126FB49EE360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399115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CEB575-3B09-41D7-86BF-C02241EBD2DF}" type="datetimeFigureOut">
              <a:rPr lang="ru-RU" smtClean="0"/>
              <a:t>19.12.2025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DC5EAD-D3A0-4803-B6F7-126FB49EE360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81384053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4CEB575-3B09-41D7-86BF-C02241EBD2DF}" type="datetimeFigureOut">
              <a:rPr lang="ru-RU" smtClean="0"/>
              <a:t>19.12.2025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7DC5EAD-D3A0-4803-B6F7-126FB49EE360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86427847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eg"/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.jpeg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e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e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>
          <a:xfrm>
            <a:off x="1524000" y="181708"/>
            <a:ext cx="9144000" cy="942609"/>
          </a:xfrm>
        </p:spPr>
        <p:txBody>
          <a:bodyPr>
            <a:normAutofit/>
          </a:bodyPr>
          <a:lstStyle/>
          <a:p>
            <a:r>
              <a:rPr lang="ru-RU" alt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Кировское областное государственное профессиональное образовательное бюджетное учреждение</a:t>
            </a:r>
            <a:br>
              <a:rPr lang="ru-RU" alt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ru-RU" alt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«Слободской колледж педагогики и социальных отношений»</a:t>
            </a:r>
            <a:endParaRPr lang="ru-RU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>
          <a:xfrm>
            <a:off x="8194430" y="3883390"/>
            <a:ext cx="3997569" cy="2974609"/>
          </a:xfrm>
        </p:spPr>
        <p:txBody>
          <a:bodyPr>
            <a:normAutofit fontScale="92500" lnSpcReduction="10000"/>
          </a:bodyPr>
          <a:lstStyle/>
          <a:p>
            <a:pPr algn="l"/>
            <a:r>
              <a:rPr lang="ru-RU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Выполнил: 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Останин Глеб Сергеевич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/>
            <a:r>
              <a:rPr lang="ru-RU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Группа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 22П-1</a:t>
            </a:r>
          </a:p>
          <a:p>
            <a:pPr algn="l"/>
            <a:r>
              <a:rPr lang="ru-RU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Специальность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/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09.02.07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Информационные системы и программирование</a:t>
            </a:r>
          </a:p>
          <a:p>
            <a:pPr algn="l"/>
            <a:r>
              <a:rPr lang="ru-RU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Руководитель: 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Калинин Арсений Олегович</a:t>
            </a:r>
          </a:p>
          <a:p>
            <a:endParaRPr lang="ru-RU" dirty="0"/>
          </a:p>
        </p:txBody>
      </p:sp>
      <p:pic>
        <p:nvPicPr>
          <p:cNvPr id="4" name="Picture 14" descr="touch-icon-ipad-retina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27503" y="23569"/>
            <a:ext cx="1258888" cy="1258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" name="Заголовок 1"/>
          <p:cNvSpPr txBox="1">
            <a:spLocks/>
          </p:cNvSpPr>
          <p:nvPr/>
        </p:nvSpPr>
        <p:spPr>
          <a:xfrm>
            <a:off x="1263162" y="2259623"/>
            <a:ext cx="9144000" cy="942609"/>
          </a:xfrm>
          <a:prstGeom prst="rect">
            <a:avLst/>
          </a:prstGeom>
        </p:spPr>
        <p:txBody>
          <a:bodyPr vert="horz" lIns="91440" tIns="45720" rIns="91440" bIns="45720" rtlCol="0" anchor="b">
            <a:normAutofit fontScale="55000" lnSpcReduction="20000"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Разработка программного модуля для бронирования и продажи билетов на автобус</a:t>
            </a:r>
          </a:p>
        </p:txBody>
      </p:sp>
      <p:sp>
        <p:nvSpPr>
          <p:cNvPr id="6" name="Заголовок 1"/>
          <p:cNvSpPr txBox="1">
            <a:spLocks/>
          </p:cNvSpPr>
          <p:nvPr/>
        </p:nvSpPr>
        <p:spPr>
          <a:xfrm>
            <a:off x="4284785" y="5370694"/>
            <a:ext cx="3622430" cy="942609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2025</a:t>
            </a:r>
            <a:endParaRPr lang="ru-RU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6848873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8200" y="766763"/>
            <a:ext cx="10515600" cy="923925"/>
          </a:xfrm>
        </p:spPr>
        <p:txBody>
          <a:bodyPr>
            <a:normAutofit/>
          </a:bodyPr>
          <a:lstStyle/>
          <a:p>
            <a:pPr algn="ctr"/>
            <a:r>
              <a:rPr lang="ru-RU" altLang="ru-RU" b="1" dirty="0">
                <a:latin typeface="Times New Roman" panose="02020603050405020304" pitchFamily="18" charset="0"/>
              </a:rPr>
              <a:t>Цели и задачи</a:t>
            </a:r>
            <a:endParaRPr lang="ru-RU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pPr marL="0" indent="0">
              <a:buNone/>
            </a:pP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Цель курсового проекта – разработка программного обеспечения для повышения эффективности работы автотранспортных предприятий, путем разработки системы бронирования и продажи билетов.</a:t>
            </a:r>
          </a:p>
          <a:p>
            <a:pPr marL="0" indent="0">
              <a:buNone/>
            </a:pP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Задачи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</a:p>
          <a:p>
            <a:pPr>
              <a:buFontTx/>
              <a:buChar char="•"/>
            </a:pPr>
            <a:r>
              <a:rPr lang="ru-RU" alt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Описать предметную область</a:t>
            </a:r>
          </a:p>
          <a:p>
            <a:pPr>
              <a:buFontTx/>
              <a:buChar char="•"/>
            </a:pPr>
            <a:r>
              <a:rPr lang="ru-RU" alt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Разработать техническое задание на создание программного продукта</a:t>
            </a:r>
          </a:p>
          <a:p>
            <a:pPr>
              <a:buFontTx/>
              <a:buChar char="•"/>
            </a:pPr>
            <a:r>
              <a:rPr lang="ru-RU" alt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Описать архитектуру программы</a:t>
            </a:r>
          </a:p>
          <a:p>
            <a:pPr>
              <a:buFontTx/>
              <a:buChar char="•"/>
            </a:pPr>
            <a:r>
              <a:rPr lang="ru-RU" alt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Описать алгоритмы и функционирование программы</a:t>
            </a:r>
          </a:p>
          <a:p>
            <a:pPr>
              <a:buFontTx/>
              <a:buChar char="•"/>
            </a:pPr>
            <a:r>
              <a:rPr lang="ru-RU" alt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Провести тестирование и опытную эксплуатацию</a:t>
            </a:r>
          </a:p>
          <a:p>
            <a:pPr>
              <a:buFontTx/>
              <a:buChar char="•"/>
            </a:pPr>
            <a:r>
              <a:rPr lang="ru-RU" alt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Разработать руководство оператора</a:t>
            </a:r>
          </a:p>
        </p:txBody>
      </p:sp>
      <p:sp>
        <p:nvSpPr>
          <p:cNvPr id="4" name="Заголовок 1"/>
          <p:cNvSpPr txBox="1">
            <a:spLocks/>
          </p:cNvSpPr>
          <p:nvPr/>
        </p:nvSpPr>
        <p:spPr>
          <a:xfrm>
            <a:off x="1524000" y="0"/>
            <a:ext cx="9144000" cy="766763"/>
          </a:xfrm>
          <a:prstGeom prst="rect">
            <a:avLst/>
          </a:prstGeom>
        </p:spPr>
        <p:txBody>
          <a:bodyPr vert="horz" lIns="91440" tIns="45720" rIns="91440" bIns="45720" rtlCol="0" anchor="b">
            <a:normAutofit fontScale="47500" lnSpcReduction="20000"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Разработка программного модуля для бронирования и продажи билетов на автобус</a:t>
            </a:r>
          </a:p>
        </p:txBody>
      </p:sp>
    </p:spTree>
    <p:extLst>
      <p:ext uri="{BB962C8B-B14F-4D97-AF65-F5344CB8AC3E}">
        <p14:creationId xmlns:p14="http://schemas.microsoft.com/office/powerpoint/2010/main" val="46572312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8200" y="962526"/>
            <a:ext cx="10515600" cy="728162"/>
          </a:xfrm>
        </p:spPr>
        <p:txBody>
          <a:bodyPr>
            <a:normAutofit/>
          </a:bodyPr>
          <a:lstStyle/>
          <a:p>
            <a:pPr algn="ctr"/>
            <a:r>
              <a:rPr lang="ru-RU" altLang="ru-RU" b="1" dirty="0">
                <a:latin typeface="Times New Roman" panose="02020603050405020304" pitchFamily="18" charset="0"/>
              </a:rPr>
              <a:t>Анализ предметной области</a:t>
            </a:r>
            <a:endParaRPr lang="ru-RU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838200" y="1825625"/>
            <a:ext cx="4894385" cy="4351338"/>
          </a:xfrm>
        </p:spPr>
        <p:txBody>
          <a:bodyPr/>
          <a:lstStyle/>
          <a:p>
            <a:r>
              <a:rPr lang="ru-RU" dirty="0"/>
              <a:t>Система бронирования и продажи билетов – это программный комплекс для автоматизации процессов оформления, редактирования и учёта билетов на пассажирские перевозки</a:t>
            </a:r>
          </a:p>
        </p:txBody>
      </p:sp>
      <p:sp>
        <p:nvSpPr>
          <p:cNvPr id="5" name="Заголовок 1"/>
          <p:cNvSpPr txBox="1">
            <a:spLocks/>
          </p:cNvSpPr>
          <p:nvPr/>
        </p:nvSpPr>
        <p:spPr>
          <a:xfrm>
            <a:off x="1524000" y="0"/>
            <a:ext cx="9144000" cy="766763"/>
          </a:xfrm>
          <a:prstGeom prst="rect">
            <a:avLst/>
          </a:prstGeom>
        </p:spPr>
        <p:txBody>
          <a:bodyPr vert="horz" lIns="91440" tIns="45720" rIns="91440" bIns="45720" rtlCol="0" anchor="b">
            <a:normAutofit fontScale="47500" lnSpcReduction="20000"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Разработка программного модуля для бронирования и продажи билетов на автобус</a:t>
            </a:r>
          </a:p>
        </p:txBody>
      </p:sp>
      <p:pic>
        <p:nvPicPr>
          <p:cNvPr id="7" name="Рисунок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534400" y="1558803"/>
            <a:ext cx="2819400" cy="51956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6998953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E95DF1FE-B802-4124-9CFF-23963CE7085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815925"/>
            <a:ext cx="10515600" cy="815927"/>
          </a:xfrm>
        </p:spPr>
        <p:txBody>
          <a:bodyPr/>
          <a:lstStyle/>
          <a:p>
            <a:pPr algn="ctr"/>
            <a:r>
              <a:rPr lang="ru-RU" b="1" dirty="0">
                <a:latin typeface="Times New Roman" panose="02020603050405020304" pitchFamily="18" charset="0"/>
              </a:rPr>
              <a:t>Сравнение с аналогами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15982BFE-F660-484D-B9CF-821D1EAD1B1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5257800" cy="4351338"/>
          </a:xfrm>
        </p:spPr>
        <p:txBody>
          <a:bodyPr>
            <a:normAutofit lnSpcReduction="10000"/>
          </a:bodyPr>
          <a:lstStyle/>
          <a:p>
            <a:pPr marL="0" indent="0" algn="just">
              <a:buNone/>
            </a:pPr>
            <a:r>
              <a:rPr lang="ru-RU" b="1" i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Система «Транспорт: Касса» (компания «ГК БИЛЕТ»):</a:t>
            </a:r>
            <a:endParaRPr lang="ru-RU" b="0" i="0" dirty="0">
              <a:solidFill>
                <a:srgbClr val="0F1115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742950" lvl="1" indent="-285750" algn="just">
              <a:buFont typeface="+mj-lt"/>
              <a:buAutoNum type="arabicPeriod"/>
            </a:pPr>
            <a:r>
              <a:rPr lang="ru-RU" b="0" i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Узкоспециализированный продукт только для кассиров.</a:t>
            </a:r>
          </a:p>
          <a:p>
            <a:pPr marL="742950" lvl="1" indent="-285750" algn="just">
              <a:buFont typeface="+mj-lt"/>
              <a:buAutoNum type="arabicPeriod"/>
            </a:pPr>
            <a:r>
              <a:rPr lang="ru-RU" b="0" i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Простой интерфейс, быстрый старт за счёт предустановок.</a:t>
            </a:r>
          </a:p>
          <a:p>
            <a:pPr marL="742950" lvl="1" indent="-285750" algn="just">
              <a:buFont typeface="+mj-lt"/>
              <a:buAutoNum type="arabicPeriod"/>
            </a:pPr>
            <a:r>
              <a:rPr lang="ru-RU" b="0" i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Интеграция с онлайн-сервисами бронирования.</a:t>
            </a:r>
          </a:p>
          <a:p>
            <a:pPr marL="742950" lvl="1" indent="-285750" algn="just">
              <a:buFont typeface="+mj-lt"/>
              <a:buAutoNum type="arabicPeriod"/>
            </a:pPr>
            <a:r>
              <a:rPr lang="ru-RU" b="0" i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Недостатки: ограниченная адаптация, зависимость от провайдера, привязка к облачным сервисам.</a:t>
            </a:r>
          </a:p>
          <a:p>
            <a:endParaRPr lang="ru-RU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D1D6868-F13A-43EB-8E4E-1465017A2FF4}"/>
              </a:ext>
            </a:extLst>
          </p:cNvPr>
          <p:cNvSpPr txBox="1"/>
          <p:nvPr/>
        </p:nvSpPr>
        <p:spPr>
          <a:xfrm>
            <a:off x="3046828" y="41959"/>
            <a:ext cx="6098344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Разработка программного модуля для бронирования и продажи билетов на автобус</a:t>
            </a:r>
          </a:p>
        </p:txBody>
      </p:sp>
      <p:pic>
        <p:nvPicPr>
          <p:cNvPr id="1026" name="Picture 2" descr="Picture background">
            <a:extLst>
              <a:ext uri="{FF2B5EF4-FFF2-40B4-BE49-F238E27FC236}">
                <a16:creationId xmlns:a16="http://schemas.microsoft.com/office/drawing/2014/main" id="{A1DA1928-BE55-420F-9AC0-7C9CFD1AA3C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192422" y="2137410"/>
            <a:ext cx="5905500" cy="33147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14605850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E95DF1FE-B802-4124-9CFF-23963CE7085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815925"/>
            <a:ext cx="10515600" cy="815927"/>
          </a:xfrm>
        </p:spPr>
        <p:txBody>
          <a:bodyPr/>
          <a:lstStyle/>
          <a:p>
            <a:pPr algn="ctr"/>
            <a:r>
              <a:rPr lang="ru-RU" b="1" dirty="0">
                <a:latin typeface="Times New Roman" panose="02020603050405020304" pitchFamily="18" charset="0"/>
              </a:rPr>
              <a:t>Сравнение с аналогами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15982BFE-F660-484D-B9CF-821D1EAD1B1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5257800" cy="4351338"/>
          </a:xfrm>
        </p:spPr>
        <p:txBody>
          <a:bodyPr>
            <a:normAutofit/>
          </a:bodyPr>
          <a:lstStyle/>
          <a:p>
            <a:pPr marL="0" indent="0" algn="just">
              <a:buNone/>
            </a:pPr>
            <a:r>
              <a:rPr lang="ru-RU" b="1" i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Комплексные системы на базе 1С («1С: Автовокзал»):</a:t>
            </a:r>
            <a:endParaRPr lang="ru-RU" b="0" i="0" dirty="0">
              <a:solidFill>
                <a:srgbClr val="0F1115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742950" lvl="1" indent="-285750" algn="just">
              <a:buFont typeface="+mj-lt"/>
              <a:buAutoNum type="arabicPeriod"/>
            </a:pPr>
            <a:r>
              <a:rPr lang="ru-RU" b="0" i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Полный цикл автоматизации: от продажи билетов до бухгалтерии.</a:t>
            </a:r>
          </a:p>
          <a:p>
            <a:pPr marL="742950" lvl="1" indent="-285750" algn="just">
              <a:buFont typeface="+mj-lt"/>
              <a:buAutoNum type="arabicPeriod"/>
            </a:pPr>
            <a:r>
              <a:rPr lang="ru-RU" b="0" i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Возможность глубокой кастомизации.</a:t>
            </a:r>
          </a:p>
          <a:p>
            <a:pPr marL="742950" lvl="1" indent="-285750" algn="just">
              <a:buFont typeface="+mj-lt"/>
              <a:buAutoNum type="arabicPeriod"/>
            </a:pPr>
            <a:r>
              <a:rPr lang="ru-RU" b="0" i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Недостатки: высокая стоимость, сложность внедрения, перегруженный интерфейс, требующий обучения.</a:t>
            </a:r>
          </a:p>
          <a:p>
            <a:endParaRPr lang="ru-RU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D1D6868-F13A-43EB-8E4E-1465017A2FF4}"/>
              </a:ext>
            </a:extLst>
          </p:cNvPr>
          <p:cNvSpPr txBox="1"/>
          <p:nvPr/>
        </p:nvSpPr>
        <p:spPr>
          <a:xfrm>
            <a:off x="3046828" y="41959"/>
            <a:ext cx="6098344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Разработка программного модуля для бронирования и продажи билетов на автобус</a:t>
            </a:r>
          </a:p>
        </p:txBody>
      </p:sp>
      <p:pic>
        <p:nvPicPr>
          <p:cNvPr id="2050" name="Picture 2" descr="Picture background">
            <a:extLst>
              <a:ext uri="{FF2B5EF4-FFF2-40B4-BE49-F238E27FC236}">
                <a16:creationId xmlns:a16="http://schemas.microsoft.com/office/drawing/2014/main" id="{FE6910E8-2182-453B-A30E-C1FF00C09C2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031795" y="2413709"/>
            <a:ext cx="4322005" cy="324150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18983586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8200" y="766763"/>
            <a:ext cx="10515600" cy="923925"/>
          </a:xfrm>
        </p:spPr>
        <p:txBody>
          <a:bodyPr/>
          <a:lstStyle/>
          <a:p>
            <a:pPr algn="ctr"/>
            <a:r>
              <a:rPr lang="ru-RU" altLang="ru-RU" b="1" dirty="0">
                <a:latin typeface="Times New Roman" panose="02020603050405020304" pitchFamily="18" charset="0"/>
              </a:rPr>
              <a:t>Средства разработки</a:t>
            </a:r>
            <a:endParaRPr lang="ru-RU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just">
              <a:buFontTx/>
              <a:buNone/>
            </a:pPr>
            <a:r>
              <a:rPr lang="ru-RU" altLang="ru-RU" dirty="0">
                <a:latin typeface="Times New Roman" panose="02020603050405020304" pitchFamily="18" charset="0"/>
              </a:rPr>
              <a:t>1. Среда разработки </a:t>
            </a:r>
            <a:r>
              <a:rPr lang="en-US" altLang="ru-RU" dirty="0">
                <a:latin typeface="Times New Roman" panose="02020603050405020304" pitchFamily="18" charset="0"/>
              </a:rPr>
              <a:t>Android Studio.</a:t>
            </a:r>
            <a:endParaRPr lang="ru-RU" altLang="ru-RU" dirty="0">
              <a:latin typeface="Times New Roman" panose="02020603050405020304" pitchFamily="18" charset="0"/>
            </a:endParaRPr>
          </a:p>
          <a:p>
            <a:pPr algn="just">
              <a:buFontTx/>
              <a:buNone/>
            </a:pPr>
            <a:r>
              <a:rPr lang="ru-RU" altLang="ru-RU" dirty="0">
                <a:latin typeface="Times New Roman" panose="02020603050405020304" pitchFamily="18" charset="0"/>
              </a:rPr>
              <a:t>2. Языка программирования </a:t>
            </a:r>
            <a:r>
              <a:rPr lang="en-US" altLang="ru-RU" dirty="0" err="1">
                <a:latin typeface="Times New Roman" panose="02020603050405020304" pitchFamily="18" charset="0"/>
              </a:rPr>
              <a:t>Kotlin</a:t>
            </a:r>
            <a:r>
              <a:rPr lang="ru-RU" altLang="ru-RU" dirty="0">
                <a:latin typeface="Times New Roman" panose="02020603050405020304" pitchFamily="18" charset="0"/>
              </a:rPr>
              <a:t>.</a:t>
            </a:r>
          </a:p>
          <a:p>
            <a:pPr algn="just">
              <a:buFontTx/>
              <a:buNone/>
            </a:pPr>
            <a:r>
              <a:rPr lang="ru-RU" altLang="ru-RU" dirty="0">
                <a:latin typeface="Times New Roman" panose="02020603050405020304" pitchFamily="18" charset="0"/>
              </a:rPr>
              <a:t>3. Платформа </a:t>
            </a:r>
            <a:r>
              <a:rPr lang="en-US" altLang="ru-RU" dirty="0">
                <a:latin typeface="Times New Roman" panose="02020603050405020304" pitchFamily="18" charset="0"/>
              </a:rPr>
              <a:t>Android (API 36.1)</a:t>
            </a:r>
            <a:endParaRPr lang="ru-RU" altLang="ru-RU" dirty="0">
              <a:latin typeface="Times New Roman" panose="02020603050405020304" pitchFamily="18" charset="0"/>
            </a:endParaRPr>
          </a:p>
          <a:p>
            <a:endParaRPr lang="ru-RU" dirty="0"/>
          </a:p>
        </p:txBody>
      </p:sp>
      <p:sp>
        <p:nvSpPr>
          <p:cNvPr id="4" name="Заголовок 1"/>
          <p:cNvSpPr txBox="1">
            <a:spLocks/>
          </p:cNvSpPr>
          <p:nvPr/>
        </p:nvSpPr>
        <p:spPr>
          <a:xfrm>
            <a:off x="1524000" y="0"/>
            <a:ext cx="9144000" cy="766763"/>
          </a:xfrm>
          <a:prstGeom prst="rect">
            <a:avLst/>
          </a:prstGeom>
        </p:spPr>
        <p:txBody>
          <a:bodyPr vert="horz" lIns="91440" tIns="45720" rIns="91440" bIns="45720" rtlCol="0" anchor="b">
            <a:normAutofit fontScale="47500" lnSpcReduction="20000"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Разработка программного модуля для бронирования и продажи билетов на автобус</a:t>
            </a:r>
          </a:p>
        </p:txBody>
      </p:sp>
      <p:pic>
        <p:nvPicPr>
          <p:cNvPr id="1026" name="Picture 2" descr="Picture background">
            <a:extLst>
              <a:ext uri="{FF2B5EF4-FFF2-40B4-BE49-F238E27FC236}">
                <a16:creationId xmlns:a16="http://schemas.microsoft.com/office/drawing/2014/main" id="{385E7677-5103-4401-A82D-220051578D8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81685" y="4001294"/>
            <a:ext cx="2494671" cy="249467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8" name="Picture 4" descr="Picture background">
            <a:extLst>
              <a:ext uri="{FF2B5EF4-FFF2-40B4-BE49-F238E27FC236}">
                <a16:creationId xmlns:a16="http://schemas.microsoft.com/office/drawing/2014/main" id="{CFA2E9CE-ED46-4342-A1FD-A1751DE4769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019841" y="4027171"/>
            <a:ext cx="5025685" cy="249467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0" name="Picture 6" descr="Picture background">
            <a:extLst>
              <a:ext uri="{FF2B5EF4-FFF2-40B4-BE49-F238E27FC236}">
                <a16:creationId xmlns:a16="http://schemas.microsoft.com/office/drawing/2014/main" id="{FD4DA37F-1399-43D4-A92E-57E6F7A3438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305925" y="3263900"/>
            <a:ext cx="2724150" cy="304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29846101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Заголовок 1"/>
          <p:cNvSpPr txBox="1">
            <a:spLocks/>
          </p:cNvSpPr>
          <p:nvPr/>
        </p:nvSpPr>
        <p:spPr>
          <a:xfrm>
            <a:off x="1524000" y="0"/>
            <a:ext cx="9144000" cy="766763"/>
          </a:xfrm>
          <a:prstGeom prst="rect">
            <a:avLst/>
          </a:prstGeom>
        </p:spPr>
        <p:txBody>
          <a:bodyPr vert="horz" lIns="91440" tIns="45720" rIns="91440" bIns="45720" rtlCol="0" anchor="b">
            <a:normAutofit fontScale="47500" lnSpcReduction="20000"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Разработка программного модуля для бронирования и продажи билетов на автобус</a:t>
            </a:r>
          </a:p>
        </p:txBody>
      </p:sp>
      <p:sp>
        <p:nvSpPr>
          <p:cNvPr id="5" name="Скругленный прямоугольник 4"/>
          <p:cNvSpPr/>
          <p:nvPr/>
        </p:nvSpPr>
        <p:spPr>
          <a:xfrm>
            <a:off x="4008437" y="1428933"/>
            <a:ext cx="4175125" cy="1081087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>
            <a:defPPr>
              <a:defRPr lang="ru-RU">
                <a:solidFill>
                  <a:schemeClr val="lt1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defRPr/>
            </a:pPr>
            <a:r>
              <a:rPr lang="ru-RU" sz="2800" dirty="0"/>
              <a:t>Основные функции программы</a:t>
            </a:r>
          </a:p>
        </p:txBody>
      </p:sp>
      <p:sp>
        <p:nvSpPr>
          <p:cNvPr id="6" name="Скругленный прямоугольник 5"/>
          <p:cNvSpPr/>
          <p:nvPr/>
        </p:nvSpPr>
        <p:spPr>
          <a:xfrm>
            <a:off x="869583" y="3644595"/>
            <a:ext cx="2401155" cy="1120836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>
            <a:defPPr>
              <a:defRPr lang="ru-RU">
                <a:solidFill>
                  <a:schemeClr val="lt1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defRPr/>
            </a:pPr>
            <a:r>
              <a:rPr lang="ru-RU" sz="2800" dirty="0"/>
              <a:t>Авторизация</a:t>
            </a:r>
            <a:r>
              <a:rPr lang="en-US" sz="2800" dirty="0"/>
              <a:t>/</a:t>
            </a:r>
            <a:r>
              <a:rPr lang="ru-RU" sz="2800" dirty="0"/>
              <a:t>Регистрация</a:t>
            </a:r>
          </a:p>
        </p:txBody>
      </p:sp>
      <p:sp>
        <p:nvSpPr>
          <p:cNvPr id="7" name="Скругленный прямоугольник 6"/>
          <p:cNvSpPr/>
          <p:nvPr/>
        </p:nvSpPr>
        <p:spPr>
          <a:xfrm>
            <a:off x="4835340" y="3644595"/>
            <a:ext cx="2521317" cy="1120836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>
            <a:defPPr>
              <a:defRPr lang="ru-RU">
                <a:solidFill>
                  <a:schemeClr val="lt1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defRPr/>
            </a:pPr>
            <a:r>
              <a:rPr lang="ru-RU" sz="2800" dirty="0"/>
              <a:t>Бронирование билетов</a:t>
            </a:r>
          </a:p>
        </p:txBody>
      </p:sp>
      <p:sp>
        <p:nvSpPr>
          <p:cNvPr id="8" name="Скругленный прямоугольник 7"/>
          <p:cNvSpPr/>
          <p:nvPr/>
        </p:nvSpPr>
        <p:spPr>
          <a:xfrm>
            <a:off x="8801100" y="3644595"/>
            <a:ext cx="2521317" cy="1120836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>
            <a:defPPr>
              <a:defRPr lang="ru-RU">
                <a:solidFill>
                  <a:schemeClr val="lt1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defRPr/>
            </a:pPr>
            <a:r>
              <a:rPr lang="ru-RU" sz="2800" dirty="0"/>
              <a:t>Продажа билетов</a:t>
            </a:r>
          </a:p>
        </p:txBody>
      </p:sp>
      <p:sp>
        <p:nvSpPr>
          <p:cNvPr id="9" name="Скругленный прямоугольник 8"/>
          <p:cNvSpPr/>
          <p:nvPr/>
        </p:nvSpPr>
        <p:spPr>
          <a:xfrm>
            <a:off x="6922903" y="5045502"/>
            <a:ext cx="2521317" cy="1120836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>
            <a:defPPr>
              <a:defRPr lang="ru-RU">
                <a:solidFill>
                  <a:schemeClr val="lt1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defRPr/>
            </a:pPr>
            <a:r>
              <a:rPr lang="ru-RU" sz="2800" dirty="0"/>
              <a:t>Просмотр рейсов</a:t>
            </a:r>
          </a:p>
        </p:txBody>
      </p:sp>
      <p:sp>
        <p:nvSpPr>
          <p:cNvPr id="10" name="Скругленный прямоугольник 9"/>
          <p:cNvSpPr/>
          <p:nvPr/>
        </p:nvSpPr>
        <p:spPr>
          <a:xfrm>
            <a:off x="2747781" y="5045502"/>
            <a:ext cx="2521317" cy="1120836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>
            <a:defPPr>
              <a:defRPr lang="ru-RU">
                <a:solidFill>
                  <a:schemeClr val="lt1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defRPr/>
            </a:pPr>
            <a:r>
              <a:rPr lang="ru-RU" sz="2800" dirty="0"/>
              <a:t>Формирование отчетов</a:t>
            </a:r>
          </a:p>
        </p:txBody>
      </p:sp>
      <p:cxnSp>
        <p:nvCxnSpPr>
          <p:cNvPr id="12" name="Прямая соединительная линия 11">
            <a:extLst>
              <a:ext uri="{FF2B5EF4-FFF2-40B4-BE49-F238E27FC236}">
                <a16:creationId xmlns:a16="http://schemas.microsoft.com/office/drawing/2014/main" id="{B6EAEB00-590B-457E-8708-A763968849D7}"/>
              </a:ext>
            </a:extLst>
          </p:cNvPr>
          <p:cNvCxnSpPr>
            <a:cxnSpLocks/>
            <a:stCxn id="5" idx="2"/>
          </p:cNvCxnSpPr>
          <p:nvPr/>
        </p:nvCxnSpPr>
        <p:spPr>
          <a:xfrm flipH="1">
            <a:off x="6095998" y="2510020"/>
            <a:ext cx="2" cy="387925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Прямая соединительная линия 14">
            <a:extLst>
              <a:ext uri="{FF2B5EF4-FFF2-40B4-BE49-F238E27FC236}">
                <a16:creationId xmlns:a16="http://schemas.microsoft.com/office/drawing/2014/main" id="{0144C2F4-1758-4AA3-A5BC-D635AAD462B1}"/>
              </a:ext>
            </a:extLst>
          </p:cNvPr>
          <p:cNvCxnSpPr/>
          <p:nvPr/>
        </p:nvCxnSpPr>
        <p:spPr>
          <a:xfrm>
            <a:off x="2070160" y="2897945"/>
            <a:ext cx="7991598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Прямая со стрелкой 16">
            <a:extLst>
              <a:ext uri="{FF2B5EF4-FFF2-40B4-BE49-F238E27FC236}">
                <a16:creationId xmlns:a16="http://schemas.microsoft.com/office/drawing/2014/main" id="{8EB033E0-C39D-4617-9DE1-FC2F46068D45}"/>
              </a:ext>
            </a:extLst>
          </p:cNvPr>
          <p:cNvCxnSpPr>
            <a:endCxn id="8" idx="0"/>
          </p:cNvCxnSpPr>
          <p:nvPr/>
        </p:nvCxnSpPr>
        <p:spPr>
          <a:xfrm>
            <a:off x="10061758" y="2897945"/>
            <a:ext cx="1" cy="74665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Прямая со стрелкой 18">
            <a:extLst>
              <a:ext uri="{FF2B5EF4-FFF2-40B4-BE49-F238E27FC236}">
                <a16:creationId xmlns:a16="http://schemas.microsoft.com/office/drawing/2014/main" id="{34ACAFB4-7CE8-44B3-8D74-747C34924E30}"/>
              </a:ext>
            </a:extLst>
          </p:cNvPr>
          <p:cNvCxnSpPr>
            <a:endCxn id="6" idx="0"/>
          </p:cNvCxnSpPr>
          <p:nvPr/>
        </p:nvCxnSpPr>
        <p:spPr>
          <a:xfrm>
            <a:off x="2070160" y="2897945"/>
            <a:ext cx="1" cy="74665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Прямая со стрелкой 20">
            <a:extLst>
              <a:ext uri="{FF2B5EF4-FFF2-40B4-BE49-F238E27FC236}">
                <a16:creationId xmlns:a16="http://schemas.microsoft.com/office/drawing/2014/main" id="{F7B35D30-C5BE-4F66-8843-3E806264E236}"/>
              </a:ext>
            </a:extLst>
          </p:cNvPr>
          <p:cNvCxnSpPr>
            <a:endCxn id="10" idx="0"/>
          </p:cNvCxnSpPr>
          <p:nvPr/>
        </p:nvCxnSpPr>
        <p:spPr>
          <a:xfrm>
            <a:off x="4008437" y="2897945"/>
            <a:ext cx="3" cy="214755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Прямая со стрелкой 22">
            <a:extLst>
              <a:ext uri="{FF2B5EF4-FFF2-40B4-BE49-F238E27FC236}">
                <a16:creationId xmlns:a16="http://schemas.microsoft.com/office/drawing/2014/main" id="{B8276D75-9F71-4B24-8122-461338CE079C}"/>
              </a:ext>
            </a:extLst>
          </p:cNvPr>
          <p:cNvCxnSpPr>
            <a:endCxn id="9" idx="0"/>
          </p:cNvCxnSpPr>
          <p:nvPr/>
        </p:nvCxnSpPr>
        <p:spPr>
          <a:xfrm>
            <a:off x="8183561" y="2897945"/>
            <a:ext cx="1" cy="214755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Прямая со стрелкой 25">
            <a:extLst>
              <a:ext uri="{FF2B5EF4-FFF2-40B4-BE49-F238E27FC236}">
                <a16:creationId xmlns:a16="http://schemas.microsoft.com/office/drawing/2014/main" id="{1B42F099-65F1-48E7-9FC3-BF78C5918499}"/>
              </a:ext>
            </a:extLst>
          </p:cNvPr>
          <p:cNvCxnSpPr>
            <a:endCxn id="7" idx="0"/>
          </p:cNvCxnSpPr>
          <p:nvPr/>
        </p:nvCxnSpPr>
        <p:spPr>
          <a:xfrm>
            <a:off x="6095998" y="2897945"/>
            <a:ext cx="1" cy="74665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5362131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8200" y="2985232"/>
            <a:ext cx="10515600" cy="1325563"/>
          </a:xfrm>
        </p:spPr>
        <p:txBody>
          <a:bodyPr/>
          <a:lstStyle/>
          <a:p>
            <a:pPr algn="ctr"/>
            <a:r>
              <a:rPr lang="ru-RU" altLang="ru-RU" dirty="0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</a:rPr>
              <a:t>Демонстрация программы</a:t>
            </a:r>
            <a:endParaRPr lang="ru-RU" dirty="0"/>
          </a:p>
        </p:txBody>
      </p:sp>
      <p:sp>
        <p:nvSpPr>
          <p:cNvPr id="4" name="Заголовок 1"/>
          <p:cNvSpPr txBox="1">
            <a:spLocks/>
          </p:cNvSpPr>
          <p:nvPr/>
        </p:nvSpPr>
        <p:spPr>
          <a:xfrm>
            <a:off x="1524000" y="0"/>
            <a:ext cx="9144000" cy="766763"/>
          </a:xfrm>
          <a:prstGeom prst="rect">
            <a:avLst/>
          </a:prstGeom>
        </p:spPr>
        <p:txBody>
          <a:bodyPr vert="horz" lIns="91440" tIns="45720" rIns="91440" bIns="45720" rtlCol="0" anchor="b">
            <a:normAutofit fontScale="47500" lnSpcReduction="20000"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Разработка программного модуля для бронирования и продажи билетов на автобус</a:t>
            </a:r>
          </a:p>
        </p:txBody>
      </p:sp>
    </p:spTree>
    <p:extLst>
      <p:ext uri="{BB962C8B-B14F-4D97-AF65-F5344CB8AC3E}">
        <p14:creationId xmlns:p14="http://schemas.microsoft.com/office/powerpoint/2010/main" val="302011412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8200" y="766763"/>
            <a:ext cx="10515600" cy="923925"/>
          </a:xfrm>
        </p:spPr>
        <p:txBody>
          <a:bodyPr/>
          <a:lstStyle/>
          <a:p>
            <a:pPr algn="ctr"/>
            <a:r>
              <a:rPr lang="ru-RU" altLang="ru-RU" b="1" dirty="0">
                <a:latin typeface="Times New Roman" panose="02020603050405020304" pitchFamily="18" charset="0"/>
              </a:rPr>
              <a:t>Основное окно</a:t>
            </a:r>
            <a:r>
              <a:rPr lang="en-US" altLang="ru-RU" b="1" dirty="0">
                <a:latin typeface="Times New Roman" panose="02020603050405020304" pitchFamily="18" charset="0"/>
              </a:rPr>
              <a:t> (</a:t>
            </a:r>
            <a:r>
              <a:rPr lang="ru-RU" altLang="ru-RU" b="1" dirty="0">
                <a:latin typeface="Times New Roman" panose="02020603050405020304" pitchFamily="18" charset="0"/>
              </a:rPr>
              <a:t>Администратора</a:t>
            </a:r>
            <a:r>
              <a:rPr lang="en-US" altLang="ru-RU" b="1" dirty="0">
                <a:latin typeface="Times New Roman" panose="02020603050405020304" pitchFamily="18" charset="0"/>
              </a:rPr>
              <a:t>)</a:t>
            </a:r>
            <a:endParaRPr lang="ru-RU" dirty="0"/>
          </a:p>
        </p:txBody>
      </p:sp>
      <p:sp>
        <p:nvSpPr>
          <p:cNvPr id="4" name="Заголовок 1"/>
          <p:cNvSpPr txBox="1">
            <a:spLocks/>
          </p:cNvSpPr>
          <p:nvPr/>
        </p:nvSpPr>
        <p:spPr>
          <a:xfrm>
            <a:off x="1524000" y="0"/>
            <a:ext cx="9144000" cy="766763"/>
          </a:xfrm>
          <a:prstGeom prst="rect">
            <a:avLst/>
          </a:prstGeom>
        </p:spPr>
        <p:txBody>
          <a:bodyPr vert="horz" lIns="91440" tIns="45720" rIns="91440" bIns="45720" rtlCol="0" anchor="b">
            <a:normAutofit fontScale="47500" lnSpcReduction="20000"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Разработка программного модуля для бронирования и продажи билетов на автобус</a:t>
            </a:r>
          </a:p>
        </p:txBody>
      </p:sp>
      <p:pic>
        <p:nvPicPr>
          <p:cNvPr id="5" name="Рисунок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74124" y="1690688"/>
            <a:ext cx="3807068" cy="50442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6375826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8200" y="766763"/>
            <a:ext cx="10515600" cy="923925"/>
          </a:xfrm>
        </p:spPr>
        <p:txBody>
          <a:bodyPr>
            <a:normAutofit/>
          </a:bodyPr>
          <a:lstStyle/>
          <a:p>
            <a:pPr algn="ctr"/>
            <a:r>
              <a:rPr lang="ru-RU" altLang="ru-RU" b="1" dirty="0">
                <a:latin typeface="Times New Roman" panose="02020603050405020304" pitchFamily="18" charset="0"/>
              </a:rPr>
              <a:t>Проблемы</a:t>
            </a:r>
            <a:endParaRPr lang="ru-RU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2350721"/>
          </a:xfrm>
        </p:spPr>
        <p:txBody>
          <a:bodyPr/>
          <a:lstStyle/>
          <a:p>
            <a:r>
              <a:rPr lang="ru-RU" dirty="0"/>
              <a:t>Синхронизация данных между устройствами в офлайн – режиме</a:t>
            </a:r>
          </a:p>
          <a:p>
            <a:r>
              <a:rPr lang="ru-RU" dirty="0"/>
              <a:t>Обеспечение совместимости с разными версиями </a:t>
            </a:r>
            <a:r>
              <a:rPr lang="en-US" dirty="0"/>
              <a:t>Android</a:t>
            </a:r>
            <a:endParaRPr lang="ru-RU" dirty="0"/>
          </a:p>
          <a:p>
            <a:r>
              <a:rPr lang="ru-RU" dirty="0"/>
              <a:t>Резервное копирование и восстановление данных</a:t>
            </a:r>
          </a:p>
        </p:txBody>
      </p:sp>
      <p:sp>
        <p:nvSpPr>
          <p:cNvPr id="4" name="Заголовок 1"/>
          <p:cNvSpPr txBox="1">
            <a:spLocks/>
          </p:cNvSpPr>
          <p:nvPr/>
        </p:nvSpPr>
        <p:spPr>
          <a:xfrm>
            <a:off x="1524000" y="0"/>
            <a:ext cx="9144000" cy="766763"/>
          </a:xfrm>
          <a:prstGeom prst="rect">
            <a:avLst/>
          </a:prstGeom>
        </p:spPr>
        <p:txBody>
          <a:bodyPr vert="horz" lIns="91440" tIns="45720" rIns="91440" bIns="45720" rtlCol="0" anchor="b">
            <a:normAutofit fontScale="47500" lnSpcReduction="20000"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Разработка программного модуля для бронирования и продажи билетов на автобус</a:t>
            </a:r>
          </a:p>
        </p:txBody>
      </p:sp>
      <p:pic>
        <p:nvPicPr>
          <p:cNvPr id="5" name="Picture 2" descr="Error with letter - векторные изображения, Error with letter картинки |  Depositphotos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730761" y="4411582"/>
            <a:ext cx="3262451" cy="228658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66710695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8200" y="766763"/>
            <a:ext cx="10515600" cy="923925"/>
          </a:xfrm>
        </p:spPr>
        <p:txBody>
          <a:bodyPr/>
          <a:lstStyle/>
          <a:p>
            <a:pPr algn="ctr"/>
            <a:r>
              <a:rPr lang="ru-RU" altLang="ru-RU" b="1" dirty="0">
                <a:latin typeface="Times New Roman" panose="02020603050405020304" pitchFamily="18" charset="0"/>
              </a:rPr>
              <a:t>Перспективы развития</a:t>
            </a:r>
            <a:endParaRPr lang="ru-RU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1585790"/>
          </a:xfrm>
        </p:spPr>
        <p:txBody>
          <a:bodyPr/>
          <a:lstStyle/>
          <a:p>
            <a:r>
              <a:rPr lang="ru-RU" dirty="0"/>
              <a:t>Добавить больше рейсов</a:t>
            </a:r>
          </a:p>
          <a:p>
            <a:r>
              <a:rPr lang="ru-RU" dirty="0"/>
              <a:t>Добавить для чеков </a:t>
            </a:r>
            <a:r>
              <a:rPr lang="en-US" dirty="0"/>
              <a:t>QR-</a:t>
            </a:r>
            <a:r>
              <a:rPr lang="ru-RU" dirty="0"/>
              <a:t>код</a:t>
            </a:r>
          </a:p>
          <a:p>
            <a:r>
              <a:rPr lang="ru-RU" dirty="0"/>
              <a:t>Добавить бронирование на несколько дней вперед</a:t>
            </a:r>
          </a:p>
          <a:p>
            <a:endParaRPr lang="ru-RU" dirty="0"/>
          </a:p>
        </p:txBody>
      </p:sp>
      <p:sp>
        <p:nvSpPr>
          <p:cNvPr id="4" name="Заголовок 1"/>
          <p:cNvSpPr txBox="1">
            <a:spLocks/>
          </p:cNvSpPr>
          <p:nvPr/>
        </p:nvSpPr>
        <p:spPr>
          <a:xfrm>
            <a:off x="1524000" y="0"/>
            <a:ext cx="9144000" cy="766763"/>
          </a:xfrm>
          <a:prstGeom prst="rect">
            <a:avLst/>
          </a:prstGeom>
        </p:spPr>
        <p:txBody>
          <a:bodyPr vert="horz" lIns="91440" tIns="45720" rIns="91440" bIns="45720" rtlCol="0" anchor="b">
            <a:normAutofit fontScale="47500" lnSpcReduction="20000"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Разработка программного модуля для бронирования и продажи билетов на автобус</a:t>
            </a:r>
          </a:p>
        </p:txBody>
      </p:sp>
      <p:pic>
        <p:nvPicPr>
          <p:cNvPr id="5" name="Picture 4" descr="Перспективы развития п.Воля | Администрация Воленского сельского поселения  Новоусманского муниципального района Воронежской области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74556" y="3853748"/>
            <a:ext cx="3408719" cy="256192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058092584"/>
      </p:ext>
    </p:extLst>
  </p:cSld>
  <p:clrMapOvr>
    <a:masterClrMapping/>
  </p:clrMapOvr>
</p:sld>
</file>

<file path=ppt/theme/theme1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87</TotalTime>
  <Words>394</Words>
  <Application>Microsoft Office PowerPoint</Application>
  <PresentationFormat>Широкоэкранный</PresentationFormat>
  <Paragraphs>60</Paragraphs>
  <Slides>11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4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11</vt:i4>
      </vt:variant>
    </vt:vector>
  </HeadingPairs>
  <TitlesOfParts>
    <vt:vector size="16" baseType="lpstr">
      <vt:lpstr>Arial</vt:lpstr>
      <vt:lpstr>Calibri</vt:lpstr>
      <vt:lpstr>Calibri Light</vt:lpstr>
      <vt:lpstr>Times New Roman</vt:lpstr>
      <vt:lpstr>Тема Office</vt:lpstr>
      <vt:lpstr>Кировское областное государственное профессиональное образовательное бюджетное учреждение «Слободской колледж педагогики и социальных отношений»</vt:lpstr>
      <vt:lpstr>Цели и задачи</vt:lpstr>
      <vt:lpstr>Анализ предметной области</vt:lpstr>
      <vt:lpstr>Сравнение с аналогами</vt:lpstr>
      <vt:lpstr>Сравнение с аналогами</vt:lpstr>
      <vt:lpstr>Средства разработки</vt:lpstr>
      <vt:lpstr>Презентация PowerPoint</vt:lpstr>
      <vt:lpstr>Демонстрация программы</vt:lpstr>
      <vt:lpstr>Основное окно (Администратора)</vt:lpstr>
      <vt:lpstr>Проблемы</vt:lpstr>
      <vt:lpstr>Перспективы развития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Кировское областное государственное профессиональное образовательное бюджетное учреждение «Слободской колледж педагогики и социальных отношений»</dc:title>
  <dc:creator>User</dc:creator>
  <cp:lastModifiedBy>PC33-10</cp:lastModifiedBy>
  <cp:revision>7</cp:revision>
  <dcterms:created xsi:type="dcterms:W3CDTF">2025-12-12T03:30:48Z</dcterms:created>
  <dcterms:modified xsi:type="dcterms:W3CDTF">2025-12-19T08:58:13Z</dcterms:modified>
</cp:coreProperties>
</file>